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12" r:id="rId5"/>
    <p:sldId id="323" r:id="rId6"/>
    <p:sldId id="307" r:id="rId7"/>
    <p:sldId id="281" r:id="rId8"/>
    <p:sldId id="304" r:id="rId9"/>
    <p:sldId id="282" r:id="rId10"/>
    <p:sldId id="314" r:id="rId11"/>
    <p:sldId id="318" r:id="rId12"/>
    <p:sldId id="322" r:id="rId13"/>
    <p:sldId id="324" r:id="rId14"/>
    <p:sldId id="297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3C0"/>
    <a:srgbClr val="F8F8C4"/>
    <a:srgbClr val="202C8F"/>
    <a:srgbClr val="FDFBF6"/>
    <a:srgbClr val="AAC4E9"/>
    <a:srgbClr val="F5CDCE"/>
    <a:srgbClr val="DF8C8C"/>
    <a:srgbClr val="D4D593"/>
    <a:srgbClr val="E6F0FE"/>
    <a:srgbClr val="CDB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88" autoAdjust="0"/>
    <p:restoredTop sz="73636" autoAdjust="0"/>
  </p:normalViewPr>
  <p:slideViewPr>
    <p:cSldViewPr snapToGrid="0" snapToObjects="1">
      <p:cViewPr varScale="1">
        <p:scale>
          <a:sx n="52" d="100"/>
          <a:sy n="52" d="100"/>
        </p:scale>
        <p:origin x="1026" y="7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4275BA-ABA7-4E9C-BFFA-430CEDA32F23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56AF9C2-1E6B-4DBD-9AAE-CFD8B3DE40E4}">
      <dgm:prSet phldrT="[Text]" custT="1"/>
      <dgm:spPr/>
      <dgm:t>
        <a:bodyPr/>
        <a:lstStyle/>
        <a:p>
          <a:r>
            <a:rPr lang="en-US" sz="4400" dirty="0">
              <a:solidFill>
                <a:schemeClr val="accent6">
                  <a:lumMod val="75000"/>
                </a:schemeClr>
              </a:solidFill>
            </a:rPr>
            <a:t>Sources of Income through </a:t>
          </a:r>
          <a:r>
            <a:rPr lang="en-US" sz="4400" dirty="0" err="1">
              <a:solidFill>
                <a:schemeClr val="accent6">
                  <a:lumMod val="75000"/>
                </a:schemeClr>
              </a:solidFill>
            </a:rPr>
            <a:t>Youtube</a:t>
          </a:r>
          <a:endParaRPr lang="en-IN" sz="4400" dirty="0">
            <a:solidFill>
              <a:schemeClr val="accent6">
                <a:lumMod val="75000"/>
              </a:schemeClr>
            </a:solidFill>
          </a:endParaRPr>
        </a:p>
      </dgm:t>
    </dgm:pt>
    <dgm:pt modelId="{D494929E-9B28-404B-8C20-5AAD51F02A1A}" type="parTrans" cxnId="{27D9DAE0-7104-4533-BA59-8ED29EC03ED7}">
      <dgm:prSet/>
      <dgm:spPr/>
      <dgm:t>
        <a:bodyPr/>
        <a:lstStyle/>
        <a:p>
          <a:endParaRPr lang="en-IN"/>
        </a:p>
      </dgm:t>
    </dgm:pt>
    <dgm:pt modelId="{69CF94CD-F7E9-48BE-8B3D-58ABEF84A8AE}" type="sibTrans" cxnId="{27D9DAE0-7104-4533-BA59-8ED29EC03ED7}">
      <dgm:prSet/>
      <dgm:spPr/>
      <dgm:t>
        <a:bodyPr/>
        <a:lstStyle/>
        <a:p>
          <a:endParaRPr lang="en-IN"/>
        </a:p>
      </dgm:t>
    </dgm:pt>
    <dgm:pt modelId="{641F016B-D34D-4FD2-A79A-151ABC15B149}">
      <dgm:prSet phldrT="[Text]" custT="1"/>
      <dgm:spPr/>
      <dgm:t>
        <a:bodyPr/>
        <a:lstStyle/>
        <a:p>
          <a:r>
            <a:rPr lang="en-US" sz="4400" dirty="0">
              <a:solidFill>
                <a:schemeClr val="accent6">
                  <a:lumMod val="75000"/>
                </a:schemeClr>
              </a:solidFill>
            </a:rPr>
            <a:t>Direct Sources</a:t>
          </a:r>
          <a:endParaRPr lang="en-IN" sz="4400" dirty="0">
            <a:solidFill>
              <a:schemeClr val="accent6">
                <a:lumMod val="75000"/>
              </a:schemeClr>
            </a:solidFill>
          </a:endParaRPr>
        </a:p>
      </dgm:t>
    </dgm:pt>
    <dgm:pt modelId="{97417C49-E4FB-4F0A-BD12-7D87C5A51F4A}" type="parTrans" cxnId="{8A6F4B75-666B-42FF-9378-7983CE345D71}">
      <dgm:prSet/>
      <dgm:spPr/>
      <dgm:t>
        <a:bodyPr/>
        <a:lstStyle/>
        <a:p>
          <a:endParaRPr lang="en-IN"/>
        </a:p>
      </dgm:t>
    </dgm:pt>
    <dgm:pt modelId="{CF690F11-7BE3-406B-AC98-EAD1AB51E64C}" type="sibTrans" cxnId="{8A6F4B75-666B-42FF-9378-7983CE345D71}">
      <dgm:prSet/>
      <dgm:spPr/>
      <dgm:t>
        <a:bodyPr/>
        <a:lstStyle/>
        <a:p>
          <a:endParaRPr lang="en-IN"/>
        </a:p>
      </dgm:t>
    </dgm:pt>
    <dgm:pt modelId="{D2241A80-3128-4EC1-8A62-92AEC0EC50B4}">
      <dgm:prSet phldrT="[Text]" custT="1"/>
      <dgm:spPr/>
      <dgm:t>
        <a:bodyPr/>
        <a:lstStyle/>
        <a:p>
          <a:r>
            <a:rPr lang="en-US" sz="4400" dirty="0">
              <a:solidFill>
                <a:schemeClr val="accent6">
                  <a:lumMod val="75000"/>
                </a:schemeClr>
              </a:solidFill>
            </a:rPr>
            <a:t>Indirect Sources</a:t>
          </a:r>
          <a:endParaRPr lang="en-IN" sz="4400" dirty="0">
            <a:solidFill>
              <a:schemeClr val="accent6">
                <a:lumMod val="75000"/>
              </a:schemeClr>
            </a:solidFill>
          </a:endParaRPr>
        </a:p>
      </dgm:t>
    </dgm:pt>
    <dgm:pt modelId="{0095C335-B9FA-46AA-A889-6ABC3517D681}" type="parTrans" cxnId="{F42B9D72-5A1A-4406-989E-74ECC1760F09}">
      <dgm:prSet/>
      <dgm:spPr/>
      <dgm:t>
        <a:bodyPr/>
        <a:lstStyle/>
        <a:p>
          <a:endParaRPr lang="en-IN"/>
        </a:p>
      </dgm:t>
    </dgm:pt>
    <dgm:pt modelId="{30EFA47E-7E67-4A74-8C7E-81EDCD0C373E}" type="sibTrans" cxnId="{F42B9D72-5A1A-4406-989E-74ECC1760F09}">
      <dgm:prSet/>
      <dgm:spPr/>
      <dgm:t>
        <a:bodyPr/>
        <a:lstStyle/>
        <a:p>
          <a:endParaRPr lang="en-IN"/>
        </a:p>
      </dgm:t>
    </dgm:pt>
    <dgm:pt modelId="{468549D9-CD29-4AB3-9AF5-B98B2C62F329}" type="pres">
      <dgm:prSet presAssocID="{2A4275BA-ABA7-4E9C-BFFA-430CEDA32F2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EC9ED63-02EF-431A-8439-AC3AA72D63AE}" type="pres">
      <dgm:prSet presAssocID="{456AF9C2-1E6B-4DBD-9AAE-CFD8B3DE40E4}" presName="hierRoot1" presStyleCnt="0">
        <dgm:presLayoutVars>
          <dgm:hierBranch val="init"/>
        </dgm:presLayoutVars>
      </dgm:prSet>
      <dgm:spPr/>
    </dgm:pt>
    <dgm:pt modelId="{7046F066-6804-43C5-BC0B-B0C92263A97B}" type="pres">
      <dgm:prSet presAssocID="{456AF9C2-1E6B-4DBD-9AAE-CFD8B3DE40E4}" presName="rootComposite1" presStyleCnt="0"/>
      <dgm:spPr/>
    </dgm:pt>
    <dgm:pt modelId="{204843E6-DFD4-4AFE-B9F1-830703AB695A}" type="pres">
      <dgm:prSet presAssocID="{456AF9C2-1E6B-4DBD-9AAE-CFD8B3DE40E4}" presName="rootText1" presStyleLbl="node0" presStyleIdx="0" presStyleCnt="1" custScaleX="168580" custScaleY="114514">
        <dgm:presLayoutVars>
          <dgm:chPref val="3"/>
        </dgm:presLayoutVars>
      </dgm:prSet>
      <dgm:spPr/>
    </dgm:pt>
    <dgm:pt modelId="{DD23A36A-73B6-4A9A-8450-26D227E65ADE}" type="pres">
      <dgm:prSet presAssocID="{456AF9C2-1E6B-4DBD-9AAE-CFD8B3DE40E4}" presName="rootConnector1" presStyleLbl="node1" presStyleIdx="0" presStyleCnt="0"/>
      <dgm:spPr/>
    </dgm:pt>
    <dgm:pt modelId="{6218B4E4-7F2C-4119-A20D-EAA364E075FE}" type="pres">
      <dgm:prSet presAssocID="{456AF9C2-1E6B-4DBD-9AAE-CFD8B3DE40E4}" presName="hierChild2" presStyleCnt="0"/>
      <dgm:spPr/>
    </dgm:pt>
    <dgm:pt modelId="{0B30B305-04AC-4DC5-87DD-83F14D448767}" type="pres">
      <dgm:prSet presAssocID="{97417C49-E4FB-4F0A-BD12-7D87C5A51F4A}" presName="Name37" presStyleLbl="parChTrans1D2" presStyleIdx="0" presStyleCnt="2"/>
      <dgm:spPr/>
    </dgm:pt>
    <dgm:pt modelId="{CCA81FA0-E64C-49FD-8498-DFEF259EF124}" type="pres">
      <dgm:prSet presAssocID="{641F016B-D34D-4FD2-A79A-151ABC15B149}" presName="hierRoot2" presStyleCnt="0">
        <dgm:presLayoutVars>
          <dgm:hierBranch val="init"/>
        </dgm:presLayoutVars>
      </dgm:prSet>
      <dgm:spPr/>
    </dgm:pt>
    <dgm:pt modelId="{E35E4FF4-199A-4BE4-9CDC-48D9CED6753A}" type="pres">
      <dgm:prSet presAssocID="{641F016B-D34D-4FD2-A79A-151ABC15B149}" presName="rootComposite" presStyleCnt="0"/>
      <dgm:spPr/>
    </dgm:pt>
    <dgm:pt modelId="{44DBF15E-8774-48AA-AED4-4DEF7D30D89E}" type="pres">
      <dgm:prSet presAssocID="{641F016B-D34D-4FD2-A79A-151ABC15B149}" presName="rootText" presStyleLbl="node2" presStyleIdx="0" presStyleCnt="2">
        <dgm:presLayoutVars>
          <dgm:chPref val="3"/>
        </dgm:presLayoutVars>
      </dgm:prSet>
      <dgm:spPr/>
    </dgm:pt>
    <dgm:pt modelId="{63796BF5-ED02-4DDC-A383-1A7DC5D7471B}" type="pres">
      <dgm:prSet presAssocID="{641F016B-D34D-4FD2-A79A-151ABC15B149}" presName="rootConnector" presStyleLbl="node2" presStyleIdx="0" presStyleCnt="2"/>
      <dgm:spPr/>
    </dgm:pt>
    <dgm:pt modelId="{1EB1E684-8793-41F8-B9E4-11D2819E4BC2}" type="pres">
      <dgm:prSet presAssocID="{641F016B-D34D-4FD2-A79A-151ABC15B149}" presName="hierChild4" presStyleCnt="0"/>
      <dgm:spPr/>
    </dgm:pt>
    <dgm:pt modelId="{E73E2882-F0F9-42B3-933C-06D98D015728}" type="pres">
      <dgm:prSet presAssocID="{641F016B-D34D-4FD2-A79A-151ABC15B149}" presName="hierChild5" presStyleCnt="0"/>
      <dgm:spPr/>
    </dgm:pt>
    <dgm:pt modelId="{2F0E8122-7D5B-465C-8BBC-F25AF6E4E13D}" type="pres">
      <dgm:prSet presAssocID="{0095C335-B9FA-46AA-A889-6ABC3517D681}" presName="Name37" presStyleLbl="parChTrans1D2" presStyleIdx="1" presStyleCnt="2"/>
      <dgm:spPr/>
    </dgm:pt>
    <dgm:pt modelId="{1065F3FD-234C-4DCB-ACF2-5CAE9752F64D}" type="pres">
      <dgm:prSet presAssocID="{D2241A80-3128-4EC1-8A62-92AEC0EC50B4}" presName="hierRoot2" presStyleCnt="0">
        <dgm:presLayoutVars>
          <dgm:hierBranch val="init"/>
        </dgm:presLayoutVars>
      </dgm:prSet>
      <dgm:spPr/>
    </dgm:pt>
    <dgm:pt modelId="{BAB5E1DA-EE33-4135-9D7A-CBDD01FA02A5}" type="pres">
      <dgm:prSet presAssocID="{D2241A80-3128-4EC1-8A62-92AEC0EC50B4}" presName="rootComposite" presStyleCnt="0"/>
      <dgm:spPr/>
    </dgm:pt>
    <dgm:pt modelId="{0725A22F-D8D6-49AC-A8D1-480B3F2A2D0F}" type="pres">
      <dgm:prSet presAssocID="{D2241A80-3128-4EC1-8A62-92AEC0EC50B4}" presName="rootText" presStyleLbl="node2" presStyleIdx="1" presStyleCnt="2">
        <dgm:presLayoutVars>
          <dgm:chPref val="3"/>
        </dgm:presLayoutVars>
      </dgm:prSet>
      <dgm:spPr/>
    </dgm:pt>
    <dgm:pt modelId="{5F0AC376-EAD7-4FA8-BEF1-35044AACAB41}" type="pres">
      <dgm:prSet presAssocID="{D2241A80-3128-4EC1-8A62-92AEC0EC50B4}" presName="rootConnector" presStyleLbl="node2" presStyleIdx="1" presStyleCnt="2"/>
      <dgm:spPr/>
    </dgm:pt>
    <dgm:pt modelId="{4DF0340A-1FEB-4613-9D2E-97C892187D43}" type="pres">
      <dgm:prSet presAssocID="{D2241A80-3128-4EC1-8A62-92AEC0EC50B4}" presName="hierChild4" presStyleCnt="0"/>
      <dgm:spPr/>
    </dgm:pt>
    <dgm:pt modelId="{D9A66C06-4E7D-4DEE-9AE8-C0C91BDB9810}" type="pres">
      <dgm:prSet presAssocID="{D2241A80-3128-4EC1-8A62-92AEC0EC50B4}" presName="hierChild5" presStyleCnt="0"/>
      <dgm:spPr/>
    </dgm:pt>
    <dgm:pt modelId="{4C3ACD3E-778B-44F6-AB5C-9FC988B5ACDE}" type="pres">
      <dgm:prSet presAssocID="{456AF9C2-1E6B-4DBD-9AAE-CFD8B3DE40E4}" presName="hierChild3" presStyleCnt="0"/>
      <dgm:spPr/>
    </dgm:pt>
  </dgm:ptLst>
  <dgm:cxnLst>
    <dgm:cxn modelId="{5CD5E624-797E-4A69-9643-C97CB7F0B574}" type="presOf" srcId="{D2241A80-3128-4EC1-8A62-92AEC0EC50B4}" destId="{5F0AC376-EAD7-4FA8-BEF1-35044AACAB41}" srcOrd="1" destOrd="0" presId="urn:microsoft.com/office/officeart/2005/8/layout/orgChart1"/>
    <dgm:cxn modelId="{EBAE472C-B16A-4342-B49D-77C15A6DD9D5}" type="presOf" srcId="{0095C335-B9FA-46AA-A889-6ABC3517D681}" destId="{2F0E8122-7D5B-465C-8BBC-F25AF6E4E13D}" srcOrd="0" destOrd="0" presId="urn:microsoft.com/office/officeart/2005/8/layout/orgChart1"/>
    <dgm:cxn modelId="{0AB19341-A31D-43F1-9E98-1F7CFF665E75}" type="presOf" srcId="{456AF9C2-1E6B-4DBD-9AAE-CFD8B3DE40E4}" destId="{DD23A36A-73B6-4A9A-8450-26D227E65ADE}" srcOrd="1" destOrd="0" presId="urn:microsoft.com/office/officeart/2005/8/layout/orgChart1"/>
    <dgm:cxn modelId="{F42B9D72-5A1A-4406-989E-74ECC1760F09}" srcId="{456AF9C2-1E6B-4DBD-9AAE-CFD8B3DE40E4}" destId="{D2241A80-3128-4EC1-8A62-92AEC0EC50B4}" srcOrd="1" destOrd="0" parTransId="{0095C335-B9FA-46AA-A889-6ABC3517D681}" sibTransId="{30EFA47E-7E67-4A74-8C7E-81EDCD0C373E}"/>
    <dgm:cxn modelId="{8A6F4B75-666B-42FF-9378-7983CE345D71}" srcId="{456AF9C2-1E6B-4DBD-9AAE-CFD8B3DE40E4}" destId="{641F016B-D34D-4FD2-A79A-151ABC15B149}" srcOrd="0" destOrd="0" parTransId="{97417C49-E4FB-4F0A-BD12-7D87C5A51F4A}" sibTransId="{CF690F11-7BE3-406B-AC98-EAD1AB51E64C}"/>
    <dgm:cxn modelId="{A246D280-C2F8-4D31-AE94-658A16D41A8D}" type="presOf" srcId="{2A4275BA-ABA7-4E9C-BFFA-430CEDA32F23}" destId="{468549D9-CD29-4AB3-9AF5-B98B2C62F329}" srcOrd="0" destOrd="0" presId="urn:microsoft.com/office/officeart/2005/8/layout/orgChart1"/>
    <dgm:cxn modelId="{053DBB81-E07A-46BD-AE68-2A8023B51A28}" type="presOf" srcId="{97417C49-E4FB-4F0A-BD12-7D87C5A51F4A}" destId="{0B30B305-04AC-4DC5-87DD-83F14D448767}" srcOrd="0" destOrd="0" presId="urn:microsoft.com/office/officeart/2005/8/layout/orgChart1"/>
    <dgm:cxn modelId="{84B21E97-F9F3-483A-A28C-22D0440FA017}" type="presOf" srcId="{456AF9C2-1E6B-4DBD-9AAE-CFD8B3DE40E4}" destId="{204843E6-DFD4-4AFE-B9F1-830703AB695A}" srcOrd="0" destOrd="0" presId="urn:microsoft.com/office/officeart/2005/8/layout/orgChart1"/>
    <dgm:cxn modelId="{B2D618A5-1587-4C11-B335-F4897FDB7E0E}" type="presOf" srcId="{D2241A80-3128-4EC1-8A62-92AEC0EC50B4}" destId="{0725A22F-D8D6-49AC-A8D1-480B3F2A2D0F}" srcOrd="0" destOrd="0" presId="urn:microsoft.com/office/officeart/2005/8/layout/orgChart1"/>
    <dgm:cxn modelId="{27F0BEB3-EA3C-4A84-B21A-C0787C48C917}" type="presOf" srcId="{641F016B-D34D-4FD2-A79A-151ABC15B149}" destId="{44DBF15E-8774-48AA-AED4-4DEF7D30D89E}" srcOrd="0" destOrd="0" presId="urn:microsoft.com/office/officeart/2005/8/layout/orgChart1"/>
    <dgm:cxn modelId="{27D9DAE0-7104-4533-BA59-8ED29EC03ED7}" srcId="{2A4275BA-ABA7-4E9C-BFFA-430CEDA32F23}" destId="{456AF9C2-1E6B-4DBD-9AAE-CFD8B3DE40E4}" srcOrd="0" destOrd="0" parTransId="{D494929E-9B28-404B-8C20-5AAD51F02A1A}" sibTransId="{69CF94CD-F7E9-48BE-8B3D-58ABEF84A8AE}"/>
    <dgm:cxn modelId="{9810AAF3-0C98-48D1-854F-859E6385F2B9}" type="presOf" srcId="{641F016B-D34D-4FD2-A79A-151ABC15B149}" destId="{63796BF5-ED02-4DDC-A383-1A7DC5D7471B}" srcOrd="1" destOrd="0" presId="urn:microsoft.com/office/officeart/2005/8/layout/orgChart1"/>
    <dgm:cxn modelId="{637C54B3-24A9-487F-BD94-72139F7D3720}" type="presParOf" srcId="{468549D9-CD29-4AB3-9AF5-B98B2C62F329}" destId="{2EC9ED63-02EF-431A-8439-AC3AA72D63AE}" srcOrd="0" destOrd="0" presId="urn:microsoft.com/office/officeart/2005/8/layout/orgChart1"/>
    <dgm:cxn modelId="{22B05286-35FD-4DAE-95B6-3358D6A8FCD9}" type="presParOf" srcId="{2EC9ED63-02EF-431A-8439-AC3AA72D63AE}" destId="{7046F066-6804-43C5-BC0B-B0C92263A97B}" srcOrd="0" destOrd="0" presId="urn:microsoft.com/office/officeart/2005/8/layout/orgChart1"/>
    <dgm:cxn modelId="{7425F051-2B2E-40FC-B9B5-642ED95A6B18}" type="presParOf" srcId="{7046F066-6804-43C5-BC0B-B0C92263A97B}" destId="{204843E6-DFD4-4AFE-B9F1-830703AB695A}" srcOrd="0" destOrd="0" presId="urn:microsoft.com/office/officeart/2005/8/layout/orgChart1"/>
    <dgm:cxn modelId="{B2D3579A-E7B5-499A-A2E6-5ACF4258AC6E}" type="presParOf" srcId="{7046F066-6804-43C5-BC0B-B0C92263A97B}" destId="{DD23A36A-73B6-4A9A-8450-26D227E65ADE}" srcOrd="1" destOrd="0" presId="urn:microsoft.com/office/officeart/2005/8/layout/orgChart1"/>
    <dgm:cxn modelId="{D6734C90-E4D6-4AD4-854E-F8054BB2E8B5}" type="presParOf" srcId="{2EC9ED63-02EF-431A-8439-AC3AA72D63AE}" destId="{6218B4E4-7F2C-4119-A20D-EAA364E075FE}" srcOrd="1" destOrd="0" presId="urn:microsoft.com/office/officeart/2005/8/layout/orgChart1"/>
    <dgm:cxn modelId="{2E33FE60-C403-49A7-8558-0FF8FE7EA4A6}" type="presParOf" srcId="{6218B4E4-7F2C-4119-A20D-EAA364E075FE}" destId="{0B30B305-04AC-4DC5-87DD-83F14D448767}" srcOrd="0" destOrd="0" presId="urn:microsoft.com/office/officeart/2005/8/layout/orgChart1"/>
    <dgm:cxn modelId="{C0F9F8B0-BD89-4F5A-A34D-887042ACE07E}" type="presParOf" srcId="{6218B4E4-7F2C-4119-A20D-EAA364E075FE}" destId="{CCA81FA0-E64C-49FD-8498-DFEF259EF124}" srcOrd="1" destOrd="0" presId="urn:microsoft.com/office/officeart/2005/8/layout/orgChart1"/>
    <dgm:cxn modelId="{9276BDF8-12CA-428A-A25F-32576EB5B8A4}" type="presParOf" srcId="{CCA81FA0-E64C-49FD-8498-DFEF259EF124}" destId="{E35E4FF4-199A-4BE4-9CDC-48D9CED6753A}" srcOrd="0" destOrd="0" presId="urn:microsoft.com/office/officeart/2005/8/layout/orgChart1"/>
    <dgm:cxn modelId="{977E66AF-7907-46C0-A1D2-FDA216D75A98}" type="presParOf" srcId="{E35E4FF4-199A-4BE4-9CDC-48D9CED6753A}" destId="{44DBF15E-8774-48AA-AED4-4DEF7D30D89E}" srcOrd="0" destOrd="0" presId="urn:microsoft.com/office/officeart/2005/8/layout/orgChart1"/>
    <dgm:cxn modelId="{10E15479-DA81-4434-B140-C009514144C7}" type="presParOf" srcId="{E35E4FF4-199A-4BE4-9CDC-48D9CED6753A}" destId="{63796BF5-ED02-4DDC-A383-1A7DC5D7471B}" srcOrd="1" destOrd="0" presId="urn:microsoft.com/office/officeart/2005/8/layout/orgChart1"/>
    <dgm:cxn modelId="{F5EBEDF3-254A-411A-8798-2CD6A199A98C}" type="presParOf" srcId="{CCA81FA0-E64C-49FD-8498-DFEF259EF124}" destId="{1EB1E684-8793-41F8-B9E4-11D2819E4BC2}" srcOrd="1" destOrd="0" presId="urn:microsoft.com/office/officeart/2005/8/layout/orgChart1"/>
    <dgm:cxn modelId="{3BB93C1D-3B96-4ACF-83A9-5F5CCCD64E8F}" type="presParOf" srcId="{CCA81FA0-E64C-49FD-8498-DFEF259EF124}" destId="{E73E2882-F0F9-42B3-933C-06D98D015728}" srcOrd="2" destOrd="0" presId="urn:microsoft.com/office/officeart/2005/8/layout/orgChart1"/>
    <dgm:cxn modelId="{38EA635D-A56C-4D86-BD61-F1C932FBBCD7}" type="presParOf" srcId="{6218B4E4-7F2C-4119-A20D-EAA364E075FE}" destId="{2F0E8122-7D5B-465C-8BBC-F25AF6E4E13D}" srcOrd="2" destOrd="0" presId="urn:microsoft.com/office/officeart/2005/8/layout/orgChart1"/>
    <dgm:cxn modelId="{5B8C802A-77C2-44E7-B13D-CD28660A0CDD}" type="presParOf" srcId="{6218B4E4-7F2C-4119-A20D-EAA364E075FE}" destId="{1065F3FD-234C-4DCB-ACF2-5CAE9752F64D}" srcOrd="3" destOrd="0" presId="urn:microsoft.com/office/officeart/2005/8/layout/orgChart1"/>
    <dgm:cxn modelId="{B67CB617-1D8D-4E23-A5F4-7D738D07156E}" type="presParOf" srcId="{1065F3FD-234C-4DCB-ACF2-5CAE9752F64D}" destId="{BAB5E1DA-EE33-4135-9D7A-CBDD01FA02A5}" srcOrd="0" destOrd="0" presId="urn:microsoft.com/office/officeart/2005/8/layout/orgChart1"/>
    <dgm:cxn modelId="{9DFC196B-93BE-4F81-B956-7D792F76486E}" type="presParOf" srcId="{BAB5E1DA-EE33-4135-9D7A-CBDD01FA02A5}" destId="{0725A22F-D8D6-49AC-A8D1-480B3F2A2D0F}" srcOrd="0" destOrd="0" presId="urn:microsoft.com/office/officeart/2005/8/layout/orgChart1"/>
    <dgm:cxn modelId="{432C0095-AF95-46B2-A5D4-F4C8ED7DEE52}" type="presParOf" srcId="{BAB5E1DA-EE33-4135-9D7A-CBDD01FA02A5}" destId="{5F0AC376-EAD7-4FA8-BEF1-35044AACAB41}" srcOrd="1" destOrd="0" presId="urn:microsoft.com/office/officeart/2005/8/layout/orgChart1"/>
    <dgm:cxn modelId="{E2EA2F09-BB51-40C8-B453-37A45BA0F6C5}" type="presParOf" srcId="{1065F3FD-234C-4DCB-ACF2-5CAE9752F64D}" destId="{4DF0340A-1FEB-4613-9D2E-97C892187D43}" srcOrd="1" destOrd="0" presId="urn:microsoft.com/office/officeart/2005/8/layout/orgChart1"/>
    <dgm:cxn modelId="{44539A9F-E403-4965-9DAF-33F99D5218E6}" type="presParOf" srcId="{1065F3FD-234C-4DCB-ACF2-5CAE9752F64D}" destId="{D9A66C06-4E7D-4DEE-9AE8-C0C91BDB9810}" srcOrd="2" destOrd="0" presId="urn:microsoft.com/office/officeart/2005/8/layout/orgChart1"/>
    <dgm:cxn modelId="{A1A3052A-7DBB-4DC8-9888-04D768C5486C}" type="presParOf" srcId="{2EC9ED63-02EF-431A-8439-AC3AA72D63AE}" destId="{4C3ACD3E-778B-44F6-AB5C-9FC988B5ACD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0E8122-7D5B-465C-8BBC-F25AF6E4E13D}">
      <dsp:nvSpPr>
        <dsp:cNvPr id="0" name=""/>
        <dsp:cNvSpPr/>
      </dsp:nvSpPr>
      <dsp:spPr>
        <a:xfrm>
          <a:off x="4064000" y="2456733"/>
          <a:ext cx="2224013" cy="7719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5985"/>
              </a:lnTo>
              <a:lnTo>
                <a:pt x="2224013" y="385985"/>
              </a:lnTo>
              <a:lnTo>
                <a:pt x="2224013" y="77197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30B305-04AC-4DC5-87DD-83F14D448767}">
      <dsp:nvSpPr>
        <dsp:cNvPr id="0" name=""/>
        <dsp:cNvSpPr/>
      </dsp:nvSpPr>
      <dsp:spPr>
        <a:xfrm>
          <a:off x="1839986" y="2456733"/>
          <a:ext cx="2224013" cy="771971"/>
        </a:xfrm>
        <a:custGeom>
          <a:avLst/>
          <a:gdLst/>
          <a:ahLst/>
          <a:cxnLst/>
          <a:rect l="0" t="0" r="0" b="0"/>
          <a:pathLst>
            <a:path>
              <a:moveTo>
                <a:pt x="2224013" y="0"/>
              </a:moveTo>
              <a:lnTo>
                <a:pt x="2224013" y="385985"/>
              </a:lnTo>
              <a:lnTo>
                <a:pt x="0" y="385985"/>
              </a:lnTo>
              <a:lnTo>
                <a:pt x="0" y="77197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4843E6-DFD4-4AFE-B9F1-830703AB695A}">
      <dsp:nvSpPr>
        <dsp:cNvPr id="0" name=""/>
        <dsp:cNvSpPr/>
      </dsp:nvSpPr>
      <dsp:spPr>
        <a:xfrm>
          <a:off x="965453" y="351934"/>
          <a:ext cx="6197092" cy="21047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>
              <a:solidFill>
                <a:schemeClr val="accent6">
                  <a:lumMod val="75000"/>
                </a:schemeClr>
              </a:solidFill>
            </a:rPr>
            <a:t>Sources of Income through </a:t>
          </a:r>
          <a:r>
            <a:rPr lang="en-US" sz="4400" kern="1200" dirty="0" err="1">
              <a:solidFill>
                <a:schemeClr val="accent6">
                  <a:lumMod val="75000"/>
                </a:schemeClr>
              </a:solidFill>
            </a:rPr>
            <a:t>Youtube</a:t>
          </a:r>
          <a:endParaRPr lang="en-IN" sz="4400" kern="1200" dirty="0">
            <a:solidFill>
              <a:schemeClr val="accent6">
                <a:lumMod val="75000"/>
              </a:schemeClr>
            </a:solidFill>
          </a:endParaRPr>
        </a:p>
      </dsp:txBody>
      <dsp:txXfrm>
        <a:off x="965453" y="351934"/>
        <a:ext cx="6197092" cy="2104798"/>
      </dsp:txXfrm>
    </dsp:sp>
    <dsp:sp modelId="{44DBF15E-8774-48AA-AED4-4DEF7D30D89E}">
      <dsp:nvSpPr>
        <dsp:cNvPr id="0" name=""/>
        <dsp:cNvSpPr/>
      </dsp:nvSpPr>
      <dsp:spPr>
        <a:xfrm>
          <a:off x="1959" y="3228704"/>
          <a:ext cx="3676054" cy="1838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>
              <a:solidFill>
                <a:schemeClr val="accent6">
                  <a:lumMod val="75000"/>
                </a:schemeClr>
              </a:solidFill>
            </a:rPr>
            <a:t>Direct Sources</a:t>
          </a:r>
          <a:endParaRPr lang="en-IN" sz="4400" kern="1200" dirty="0">
            <a:solidFill>
              <a:schemeClr val="accent6">
                <a:lumMod val="75000"/>
              </a:schemeClr>
            </a:solidFill>
          </a:endParaRPr>
        </a:p>
      </dsp:txBody>
      <dsp:txXfrm>
        <a:off x="1959" y="3228704"/>
        <a:ext cx="3676054" cy="1838027"/>
      </dsp:txXfrm>
    </dsp:sp>
    <dsp:sp modelId="{0725A22F-D8D6-49AC-A8D1-480B3F2A2D0F}">
      <dsp:nvSpPr>
        <dsp:cNvPr id="0" name=""/>
        <dsp:cNvSpPr/>
      </dsp:nvSpPr>
      <dsp:spPr>
        <a:xfrm>
          <a:off x="4449985" y="3228704"/>
          <a:ext cx="3676054" cy="1838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>
              <a:solidFill>
                <a:schemeClr val="accent6">
                  <a:lumMod val="75000"/>
                </a:schemeClr>
              </a:solidFill>
            </a:rPr>
            <a:t>Indirect Sources</a:t>
          </a:r>
          <a:endParaRPr lang="en-IN" sz="4400" kern="1200" dirty="0">
            <a:solidFill>
              <a:schemeClr val="accent6">
                <a:lumMod val="75000"/>
              </a:schemeClr>
            </a:solidFill>
          </a:endParaRPr>
        </a:p>
      </dsp:txBody>
      <dsp:txXfrm>
        <a:off x="4449985" y="3228704"/>
        <a:ext cx="3676054" cy="18380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343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channel/UC0IWRLai-BAwci_e9MylNGw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://www.youtube.com/@ashishchanchlanivines" TargetMode="External"/><Relationship Id="rId5" Type="http://schemas.openxmlformats.org/officeDocument/2006/relationships/hyperlink" Target="https://youtube.com/MRINDIANHACKER?sub_confirmation=1" TargetMode="External"/><Relationship Id="rId4" Type="http://schemas.openxmlformats.org/officeDocument/2006/relationships/hyperlink" Target="https://www.youtube.com/channel/UCX8pnu3DYUnx8qy8V_c6oHg?sub_confirmation=1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88" y="1310290"/>
            <a:ext cx="6392421" cy="3831221"/>
          </a:xfrm>
        </p:spPr>
        <p:txBody>
          <a:bodyPr anchor="ctr"/>
          <a:lstStyle/>
          <a:p>
            <a:r>
              <a:rPr lang="en-US" dirty="0"/>
              <a:t>Income from </a:t>
            </a:r>
            <a:r>
              <a:rPr lang="en-US" dirty="0" err="1">
                <a:solidFill>
                  <a:srgbClr val="FF0000"/>
                </a:solidFill>
              </a:rPr>
              <a:t>youtube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1026" name="Picture 2" descr="Youtube PNG Logo Images | Youtube Icons | Free Download - Pngtree">
            <a:extLst>
              <a:ext uri="{FF2B5EF4-FFF2-40B4-BE49-F238E27FC236}">
                <a16:creationId xmlns:a16="http://schemas.microsoft.com/office/drawing/2014/main" id="{0EE30E2B-8A5F-4BD0-C469-A12CFED90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572" y="-185136"/>
            <a:ext cx="2990851" cy="2990851"/>
          </a:xfrm>
          <a:prstGeom prst="rect">
            <a:avLst/>
          </a:prstGeom>
          <a:noFill/>
          <a:effectLst>
            <a:glow rad="76200">
              <a:schemeClr val="accent2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05853A-96C1-291D-FDD5-E10D5CDCD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0"/>
            <a:ext cx="10511627" cy="758868"/>
          </a:xfrm>
        </p:spPr>
        <p:txBody>
          <a:bodyPr/>
          <a:lstStyle/>
          <a:p>
            <a:r>
              <a:rPr lang="en-US" dirty="0"/>
              <a:t>Table of Contents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DF3AE-ABC8-14E6-B3D8-81FD390AB8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3CA3C28-4F1C-5F16-580D-DB9487B76E8E}"/>
              </a:ext>
            </a:extLst>
          </p:cNvPr>
          <p:cNvSpPr/>
          <p:nvPr/>
        </p:nvSpPr>
        <p:spPr>
          <a:xfrm>
            <a:off x="1285482" y="1541409"/>
            <a:ext cx="9759149" cy="75886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Introduction</a:t>
            </a:r>
            <a:endParaRPr lang="en-IN" sz="3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" name="Flowchart: Delay 15">
            <a:extLst>
              <a:ext uri="{FF2B5EF4-FFF2-40B4-BE49-F238E27FC236}">
                <a16:creationId xmlns:a16="http://schemas.microsoft.com/office/drawing/2014/main" id="{0C9981C4-3B22-A08F-EE66-DB926D85D8AC}"/>
              </a:ext>
            </a:extLst>
          </p:cNvPr>
          <p:cNvSpPr/>
          <p:nvPr/>
        </p:nvSpPr>
        <p:spPr>
          <a:xfrm>
            <a:off x="1286267" y="1541409"/>
            <a:ext cx="1142607" cy="758868"/>
          </a:xfrm>
          <a:prstGeom prst="flowChartDelay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0C40B71-1280-3EF9-C5FF-A0038DE0A290}"/>
              </a:ext>
            </a:extLst>
          </p:cNvPr>
          <p:cNvSpPr/>
          <p:nvPr/>
        </p:nvSpPr>
        <p:spPr>
          <a:xfrm>
            <a:off x="1286267" y="3467792"/>
            <a:ext cx="9758363" cy="75886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Youtube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as Career</a:t>
            </a:r>
            <a:endParaRPr lang="en-IN" sz="32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Flowchart: Delay 22">
            <a:extLst>
              <a:ext uri="{FF2B5EF4-FFF2-40B4-BE49-F238E27FC236}">
                <a16:creationId xmlns:a16="http://schemas.microsoft.com/office/drawing/2014/main" id="{40428E40-CE92-31E5-1C12-0A5C01F55FF7}"/>
              </a:ext>
            </a:extLst>
          </p:cNvPr>
          <p:cNvSpPr/>
          <p:nvPr/>
        </p:nvSpPr>
        <p:spPr>
          <a:xfrm>
            <a:off x="1285482" y="3467792"/>
            <a:ext cx="1085850" cy="758868"/>
          </a:xfrm>
          <a:prstGeom prst="flowChartDelay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84D6A144-B3B9-D954-E623-34929CA0E421}"/>
              </a:ext>
            </a:extLst>
          </p:cNvPr>
          <p:cNvSpPr/>
          <p:nvPr/>
        </p:nvSpPr>
        <p:spPr>
          <a:xfrm>
            <a:off x="10006405" y="3490443"/>
            <a:ext cx="885825" cy="758868"/>
          </a:xfrm>
          <a:prstGeom prst="flowChartConnector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609A729-1B5C-BCD3-3B5A-46E16246DFE3}"/>
              </a:ext>
            </a:extLst>
          </p:cNvPr>
          <p:cNvSpPr/>
          <p:nvPr/>
        </p:nvSpPr>
        <p:spPr>
          <a:xfrm>
            <a:off x="1286268" y="4443343"/>
            <a:ext cx="9758363" cy="758868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10000"/>
                  </a:schemeClr>
                </a:solidFill>
              </a:rPr>
              <a:t>Statistics</a:t>
            </a:r>
          </a:p>
        </p:txBody>
      </p:sp>
      <p:sp>
        <p:nvSpPr>
          <p:cNvPr id="26" name="Flowchart: Delay 25">
            <a:extLst>
              <a:ext uri="{FF2B5EF4-FFF2-40B4-BE49-F238E27FC236}">
                <a16:creationId xmlns:a16="http://schemas.microsoft.com/office/drawing/2014/main" id="{DB861154-98B6-FEB1-2F5C-903FAA855A95}"/>
              </a:ext>
            </a:extLst>
          </p:cNvPr>
          <p:cNvSpPr/>
          <p:nvPr/>
        </p:nvSpPr>
        <p:spPr>
          <a:xfrm>
            <a:off x="1286268" y="4443343"/>
            <a:ext cx="1085850" cy="758868"/>
          </a:xfrm>
          <a:prstGeom prst="flowChartDelay">
            <a:avLst/>
          </a:prstGeom>
          <a:solidFill>
            <a:schemeClr val="bg1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en-IN" dirty="0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3FE771C4-B92C-FC42-12C7-EF145F67AD75}"/>
              </a:ext>
            </a:extLst>
          </p:cNvPr>
          <p:cNvSpPr/>
          <p:nvPr/>
        </p:nvSpPr>
        <p:spPr>
          <a:xfrm>
            <a:off x="10006405" y="4443343"/>
            <a:ext cx="885825" cy="758868"/>
          </a:xfrm>
          <a:prstGeom prst="flowChartConnector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237DD55-5B8A-205A-D0BD-9561DECF71C2}"/>
              </a:ext>
            </a:extLst>
          </p:cNvPr>
          <p:cNvSpPr/>
          <p:nvPr/>
        </p:nvSpPr>
        <p:spPr>
          <a:xfrm>
            <a:off x="1286268" y="5421294"/>
            <a:ext cx="9758363" cy="7588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>
                    <a:lumMod val="10000"/>
                  </a:schemeClr>
                </a:solidFill>
              </a:rPr>
              <a:t>Tips for aspiring </a:t>
            </a:r>
            <a:r>
              <a:rPr lang="en-US" sz="3200" dirty="0" err="1">
                <a:solidFill>
                  <a:schemeClr val="bg1">
                    <a:lumMod val="10000"/>
                  </a:schemeClr>
                </a:solidFill>
              </a:rPr>
              <a:t>youtubers</a:t>
            </a:r>
            <a:endParaRPr lang="en-IN" sz="32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9" name="Flowchart: Delay 28">
            <a:extLst>
              <a:ext uri="{FF2B5EF4-FFF2-40B4-BE49-F238E27FC236}">
                <a16:creationId xmlns:a16="http://schemas.microsoft.com/office/drawing/2014/main" id="{DD202A4B-5F80-487F-B064-A19733C33D72}"/>
              </a:ext>
            </a:extLst>
          </p:cNvPr>
          <p:cNvSpPr/>
          <p:nvPr/>
        </p:nvSpPr>
        <p:spPr>
          <a:xfrm>
            <a:off x="1286268" y="5421294"/>
            <a:ext cx="1085850" cy="758868"/>
          </a:xfrm>
          <a:prstGeom prst="flowChartDelay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  <a:endParaRPr lang="en-IN" dirty="0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1F885462-CD8A-2F62-D4DC-3BCCB35A4CA2}"/>
              </a:ext>
            </a:extLst>
          </p:cNvPr>
          <p:cNvSpPr/>
          <p:nvPr/>
        </p:nvSpPr>
        <p:spPr>
          <a:xfrm>
            <a:off x="10006404" y="5421294"/>
            <a:ext cx="885825" cy="758868"/>
          </a:xfrm>
          <a:prstGeom prst="flowChartConnector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A417E99A-EAED-843F-6B39-30F11D096048}"/>
              </a:ext>
            </a:extLst>
          </p:cNvPr>
          <p:cNvSpPr/>
          <p:nvPr/>
        </p:nvSpPr>
        <p:spPr>
          <a:xfrm>
            <a:off x="10006405" y="1541409"/>
            <a:ext cx="885824" cy="758868"/>
          </a:xfrm>
          <a:prstGeom prst="flowChartConnector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74AF964-4A47-30C4-C16A-E448D66FE5F8}"/>
              </a:ext>
            </a:extLst>
          </p:cNvPr>
          <p:cNvSpPr/>
          <p:nvPr/>
        </p:nvSpPr>
        <p:spPr>
          <a:xfrm>
            <a:off x="1310075" y="2505754"/>
            <a:ext cx="9758363" cy="75886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Sources of Income</a:t>
            </a:r>
            <a:endParaRPr lang="en-IN" sz="32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4" name="Flowchart: Delay 33">
            <a:extLst>
              <a:ext uri="{FF2B5EF4-FFF2-40B4-BE49-F238E27FC236}">
                <a16:creationId xmlns:a16="http://schemas.microsoft.com/office/drawing/2014/main" id="{FDC48235-BB8F-BCCD-1457-DB1AF4021147}"/>
              </a:ext>
            </a:extLst>
          </p:cNvPr>
          <p:cNvSpPr/>
          <p:nvPr/>
        </p:nvSpPr>
        <p:spPr>
          <a:xfrm>
            <a:off x="1309290" y="2505754"/>
            <a:ext cx="1085850" cy="758868"/>
          </a:xfrm>
          <a:prstGeom prst="flowChartDelay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IN" dirty="0"/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B3E09A00-1874-150F-C33A-FED04A587209}"/>
              </a:ext>
            </a:extLst>
          </p:cNvPr>
          <p:cNvSpPr/>
          <p:nvPr/>
        </p:nvSpPr>
        <p:spPr>
          <a:xfrm>
            <a:off x="10030213" y="2528405"/>
            <a:ext cx="885825" cy="758868"/>
          </a:xfrm>
          <a:prstGeom prst="flowChartConnector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400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7589" y="428625"/>
            <a:ext cx="4814886" cy="1014414"/>
          </a:xfrm>
        </p:spPr>
        <p:txBody>
          <a:bodyPr/>
          <a:lstStyle/>
          <a:p>
            <a:r>
              <a:rPr lang="en-US" sz="4000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FFDD7-3BE1-C00A-6DFB-320D72A7557C}"/>
              </a:ext>
            </a:extLst>
          </p:cNvPr>
          <p:cNvSpPr txBox="1"/>
          <p:nvPr/>
        </p:nvSpPr>
        <p:spPr>
          <a:xfrm>
            <a:off x="1171575" y="1471614"/>
            <a:ext cx="918686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 Invented on 14 Feb 2005, 1</a:t>
            </a:r>
            <a:r>
              <a:rPr lang="en-IN" sz="2400" baseline="30000" dirty="0"/>
              <a:t>st</a:t>
            </a:r>
            <a:r>
              <a:rPr lang="en-IN" sz="2400" dirty="0"/>
              <a:t> video was uploaded on  23 April 2005.</a:t>
            </a:r>
          </a:p>
          <a:p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After its entry in India in 2008 it has grown significantly with millions of users accessing the platform daily.</a:t>
            </a:r>
          </a:p>
          <a:p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Largest video-sharing platform with 476 millions of users.</a:t>
            </a:r>
          </a:p>
          <a:p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Offers opportunities for content creators to generate income.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Around 2 million creators are signed up to </a:t>
            </a:r>
            <a:r>
              <a:rPr lang="en-US" sz="2400" dirty="0" err="1"/>
              <a:t>Youtube’s</a:t>
            </a:r>
            <a:r>
              <a:rPr lang="en-US" sz="2400" dirty="0"/>
              <a:t> Partner Program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6AC9EFE-9990-FDBB-7DF3-F57D2A03E4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871493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 err="1"/>
              <a:t>Monetisation</a:t>
            </a:r>
            <a:r>
              <a:rPr lang="en-US" dirty="0"/>
              <a:t> Criteria of </a:t>
            </a:r>
            <a:r>
              <a:rPr lang="en-US" dirty="0" err="1"/>
              <a:t>Youtube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39"/>
            <a:ext cx="6986588" cy="342328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4000 Watch Hours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1000 Subscribers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Direct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>
            <a:normAutofit/>
          </a:bodyPr>
          <a:lstStyle/>
          <a:p>
            <a:r>
              <a:rPr lang="en-US" sz="3600" dirty="0"/>
              <a:t>Revenue from Ads</a:t>
            </a:r>
          </a:p>
          <a:p>
            <a:r>
              <a:rPr lang="en-US" sz="3600" dirty="0"/>
              <a:t>Membership Subscriptions</a:t>
            </a:r>
          </a:p>
          <a:p>
            <a:r>
              <a:rPr lang="en-US" sz="3600" dirty="0" err="1"/>
              <a:t>Superchats</a:t>
            </a:r>
            <a:r>
              <a:rPr lang="en-US" sz="3600" dirty="0"/>
              <a:t> &amp; Super Likes</a:t>
            </a:r>
          </a:p>
          <a:p>
            <a:pPr marL="0" indent="0">
              <a:buNone/>
            </a:pPr>
            <a:endParaRPr lang="en-US" sz="3600" dirty="0"/>
          </a:p>
          <a:p>
            <a:endParaRPr lang="en-US" sz="3600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705189"/>
            <a:ext cx="7043617" cy="1285876"/>
          </a:xfrm>
        </p:spPr>
        <p:txBody>
          <a:bodyPr/>
          <a:lstStyle/>
          <a:p>
            <a:r>
              <a:rPr lang="en-US" dirty="0"/>
              <a:t>Indirect Sources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93384" y="2608594"/>
            <a:ext cx="7043618" cy="2709855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Brand Promotions</a:t>
            </a:r>
          </a:p>
          <a:p>
            <a:endParaRPr lang="en-US" sz="3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Merchandise</a:t>
            </a:r>
          </a:p>
          <a:p>
            <a:endParaRPr lang="en-US" sz="3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Collaborations</a:t>
            </a:r>
          </a:p>
          <a:p>
            <a:endParaRPr lang="en-US" sz="3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Affiliate Marketing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746" y="550883"/>
            <a:ext cx="7843837" cy="876135"/>
          </a:xfrm>
        </p:spPr>
        <p:txBody>
          <a:bodyPr/>
          <a:lstStyle/>
          <a:p>
            <a:r>
              <a:rPr lang="en-US" dirty="0" err="1"/>
              <a:t>Youtube</a:t>
            </a:r>
            <a:r>
              <a:rPr lang="en-US" dirty="0"/>
              <a:t> as career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34290" y="1537855"/>
            <a:ext cx="7083185" cy="4515753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You decide your hours and whether to work from home or get an office space.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Most people have access to a smartphone, and that's all you need to start your YouTube career.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 Prior Experience Needed.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YouTuber may not have been a profitable career path before, but it's certainly one today.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Many users decide to become creators by sharing videos of themselves doing their hobbies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483E02-7FD8-D82A-E2D9-2322028BF7E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316D62-A835-7155-05E8-0B01F1217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9454" y="3405189"/>
            <a:ext cx="3202546" cy="264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609" y="692944"/>
            <a:ext cx="10511627" cy="702720"/>
          </a:xfrm>
        </p:spPr>
        <p:txBody>
          <a:bodyPr/>
          <a:lstStyle/>
          <a:p>
            <a:r>
              <a:rPr lang="en-US" dirty="0"/>
              <a:t>Top Indian </a:t>
            </a:r>
            <a:r>
              <a:rPr lang="en-US" dirty="0" err="1"/>
              <a:t>youtubers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801358654"/>
              </p:ext>
            </p:extLst>
          </p:nvPr>
        </p:nvGraphicFramePr>
        <p:xfrm>
          <a:off x="914400" y="1631407"/>
          <a:ext cx="10510836" cy="60350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898232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2771509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3514165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326930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325600">
                <a:tc>
                  <a:txBody>
                    <a:bodyPr/>
                    <a:lstStyle/>
                    <a:p>
                      <a:r>
                        <a:rPr lang="en-US" dirty="0"/>
                        <a:t>Name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of Subscribers ( in million)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790483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Ajey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Nagar (</a:t>
                      </a:r>
                      <a:r>
                        <a:rPr lang="en-US" sz="18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Carryminati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41.7    </a:t>
                      </a:r>
                      <a:r>
                        <a:rPr lang="en-US" dirty="0">
                          <a:hlinkClick r:id="rId3"/>
                        </a:rPr>
                        <a:t>https://www.youtube.com/channel/UC0IWRLai-BAwci_e9MylNGw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1027628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Ujjwal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(Techno </a:t>
                      </a:r>
                      <a:r>
                        <a:rPr lang="en-US" sz="18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Gamerz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39.1 </a:t>
                      </a:r>
                      <a:r>
                        <a:rPr lang="en-US" dirty="0">
                          <a:hlinkClick r:id="rId4"/>
                        </a:rPr>
                        <a:t>https://www.youtube.com/channel/UCX8pnu3DYUnx8qy8V_c6oHg?sub_confirmation=1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1027628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Dilraj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Singh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(Mr. Indian Hacker)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37.8</a:t>
                      </a:r>
                    </a:p>
                    <a:p>
                      <a:r>
                        <a:rPr lang="en-US" dirty="0">
                          <a:hlinkClick r:id="rId5"/>
                        </a:rPr>
                        <a:t>https://youtube.com/MRINDIANHACKER?sub_confirmation=1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790483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Ashish </a:t>
                      </a:r>
                      <a:r>
                        <a:rPr lang="en-US" sz="18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Chanchlani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Ashish </a:t>
                      </a:r>
                      <a:r>
                        <a:rPr lang="en-US" sz="18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Chanchlani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Vines)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30.3 </a:t>
                      </a:r>
                      <a:r>
                        <a:rPr lang="en-US" dirty="0">
                          <a:hlinkClick r:id="rId6"/>
                        </a:rPr>
                        <a:t>http://www.youtube.com/@ashishchanchlanivines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316193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Amit Sharma (</a:t>
                      </a:r>
                      <a:r>
                        <a:rPr lang="en-US" sz="18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CrazyXYZ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  <a:tr h="3161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4500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1983946"/>
                  </a:ext>
                </a:extLst>
              </a:tr>
              <a:tr h="3161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808088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2944"/>
            <a:ext cx="6583680" cy="1359792"/>
          </a:xfrm>
        </p:spPr>
        <p:txBody>
          <a:bodyPr/>
          <a:lstStyle/>
          <a:p>
            <a:r>
              <a:rPr lang="en-US" dirty="0"/>
              <a:t>TIPS for aspiring youtubers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Find Your Niche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Focus on Quality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 Consistent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Engage with Your Audience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Search Engine Optimization Techniques and Analytics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4507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1077264"/>
            <a:ext cx="5715000" cy="1497986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you, from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449" y="2892490"/>
            <a:ext cx="5882951" cy="28882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Sukrit</a:t>
            </a:r>
            <a:r>
              <a:rPr lang="en-US" dirty="0"/>
              <a:t> </a:t>
            </a:r>
            <a:r>
              <a:rPr lang="en-US" dirty="0" err="1"/>
              <a:t>Mirane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Kovida</a:t>
            </a:r>
            <a:r>
              <a:rPr lang="en-US" dirty="0"/>
              <a:t> Deshpande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Dhanashree</a:t>
            </a:r>
            <a:r>
              <a:rPr lang="en-US" dirty="0"/>
              <a:t> Jadhav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Prajyot Thakare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 </a:t>
            </a:r>
            <a:r>
              <a:rPr lang="en-US" dirty="0" err="1"/>
              <a:t>Raviraj</a:t>
            </a:r>
            <a:r>
              <a:rPr lang="en-US" dirty="0"/>
              <a:t> </a:t>
            </a:r>
            <a:r>
              <a:rPr lang="en-US" dirty="0" err="1"/>
              <a:t>Labhade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1F18C7-3B97-D5E0-D8FA-BC51956BF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450" y="2312886"/>
            <a:ext cx="3185051" cy="305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www.w3.org/XML/1998/namespace"/>
    <ds:schemaRef ds:uri="http://schemas.microsoft.com/sharepoint/v3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{755D30CF-E6E0-435A-BC9C-B1A95D20999E}tf78438558_win32</Template>
  <TotalTime>404</TotalTime>
  <Words>346</Words>
  <Application>Microsoft Office PowerPoint</Application>
  <PresentationFormat>Widescreen</PresentationFormat>
  <Paragraphs>84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Sabon Next LT</vt:lpstr>
      <vt:lpstr>Custom</vt:lpstr>
      <vt:lpstr>Income from youtube </vt:lpstr>
      <vt:lpstr>Table of Contents</vt:lpstr>
      <vt:lpstr>Introduction</vt:lpstr>
      <vt:lpstr>PowerPoint Presentation</vt:lpstr>
      <vt:lpstr>Monetisation Criteria of Youtube</vt:lpstr>
      <vt:lpstr>Direct Sources</vt:lpstr>
      <vt:lpstr>Indirect Sources</vt:lpstr>
      <vt:lpstr>Youtube as career </vt:lpstr>
      <vt:lpstr>Top Indian youtubers</vt:lpstr>
      <vt:lpstr>TIPS for aspiring youtubers</vt:lpstr>
      <vt:lpstr>Thank  you, from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Income from youtube</dc:title>
  <dc:subject/>
  <dc:creator>Prajyot Thakare</dc:creator>
  <cp:lastModifiedBy>Prajyot Thakare</cp:lastModifiedBy>
  <cp:revision>32</cp:revision>
  <dcterms:created xsi:type="dcterms:W3CDTF">2024-12-05T11:48:14Z</dcterms:created>
  <dcterms:modified xsi:type="dcterms:W3CDTF">2024-12-06T08:32:40Z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